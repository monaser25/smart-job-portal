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617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4.png"/><Relationship Id="rId4" Type="http://schemas.openxmlformats.org/officeDocument/2006/relationships/image" Target="../media/image29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24.png"/><Relationship Id="rId5" Type="http://schemas.openxmlformats.org/officeDocument/2006/relationships/image" Target="../media/image37.png"/><Relationship Id="rId10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640080"/>
            <a:ext cx="237744" cy="237744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10544" y="640080"/>
            <a:ext cx="237744" cy="237744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863072" y="987552"/>
            <a:ext cx="237744" cy="237744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0" y="1335024"/>
            <a:ext cx="237744" cy="237744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210544" y="1335024"/>
            <a:ext cx="237744" cy="237744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777240"/>
            <a:ext cx="100584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10512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28800" y="1298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PROJECT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</a:t>
            </a:r>
            <a:r>
              <a:rPr lang="en-US" sz="5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640080" y="4657101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400" dirty="0">
                <a:solidFill>
                  <a:schemeClr val="bg1"/>
                </a:solidFill>
              </a:rPr>
              <a:t>Mohamed Ibrahim Nasr Ali Asal            Mohamed Nasser Ahmed Sand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Yousef Mostafa Yousef Abdelaziz           Ahmed Kamal Ahmed Mohamed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Ahmed Saad </a:t>
            </a:r>
            <a:r>
              <a:rPr lang="en-US" sz="1400" dirty="0" err="1">
                <a:solidFill>
                  <a:schemeClr val="bg1"/>
                </a:solidFill>
              </a:rPr>
              <a:t>Saad</a:t>
            </a:r>
            <a:r>
              <a:rPr lang="en-US" sz="1400" dirty="0">
                <a:solidFill>
                  <a:schemeClr val="bg1"/>
                </a:solidFill>
              </a:rPr>
              <a:t> Al-Mutawalli             Mahmoud Alaa Mahmoud Gabal</a:t>
            </a:r>
          </a:p>
        </p:txBody>
      </p:sp>
      <p:sp>
        <p:nvSpPr>
          <p:cNvPr id="14" name="Shape 11"/>
          <p:cNvSpPr/>
          <p:nvPr/>
        </p:nvSpPr>
        <p:spPr>
          <a:xfrm>
            <a:off x="640080" y="6015446"/>
            <a:ext cx="7132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4364493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r>
              <a:rPr lang="ar-EG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035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   </a:t>
            </a:r>
            <a:r>
              <a:rPr lang="en-US" sz="1600" b="1" dirty="0">
                <a:solidFill>
                  <a:schemeClr val="bg1"/>
                </a:solidFill>
              </a:rPr>
              <a:t>Prof. Ahmed Mohammed Rabie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F40FD-9079-EAD0-C99A-3D84D7FD5202}"/>
              </a:ext>
            </a:extLst>
          </p:cNvPr>
          <p:cNvSpPr txBox="1"/>
          <p:nvPr/>
        </p:nvSpPr>
        <p:spPr>
          <a:xfrm>
            <a:off x="565436" y="6327648"/>
            <a:ext cx="50329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2025/2026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3423C4-A488-31FC-320A-E68DA59B8288}"/>
              </a:ext>
            </a:extLst>
          </p:cNvPr>
          <p:cNvSpPr txBox="1"/>
          <p:nvPr/>
        </p:nvSpPr>
        <p:spPr>
          <a:xfrm>
            <a:off x="640080" y="38626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Damietta University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CCDA143-02FF-6CEE-DDE8-0BFABBE52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5513" y="592388"/>
            <a:ext cx="1541138" cy="10718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D18E7A-5C7B-E9D8-4B19-AE22714E5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5458" y="5322786"/>
            <a:ext cx="1375146" cy="1312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600200" y="2112264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2231136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40280" y="19202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17920" y="1920240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192024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178040" y="2112264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23113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18120" y="19202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&amp; Users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640080" y="2944368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22960" y="294436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1600200" y="3136392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072" y="3255264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240280" y="294436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&amp; System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6217920" y="2944368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400800" y="294436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1"/>
          <p:cNvSpPr/>
          <p:nvPr/>
        </p:nvSpPr>
        <p:spPr>
          <a:xfrm>
            <a:off x="7178040" y="3136392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3255264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818120" y="294436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UI / UX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640080" y="3968496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822960" y="3968496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Shape 25"/>
          <p:cNvSpPr/>
          <p:nvPr/>
        </p:nvSpPr>
        <p:spPr>
          <a:xfrm>
            <a:off x="1600200" y="416052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4279392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240280" y="3968496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AI Engine</a:t>
            </a:r>
            <a:endParaRPr lang="en-US" sz="1450" dirty="0"/>
          </a:p>
        </p:txBody>
      </p:sp>
      <p:sp>
        <p:nvSpPr>
          <p:cNvPr id="34" name="Shape 27"/>
          <p:cNvSpPr/>
          <p:nvPr/>
        </p:nvSpPr>
        <p:spPr>
          <a:xfrm>
            <a:off x="6217920" y="3968496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400800" y="3968496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6" name="Shape 29"/>
          <p:cNvSpPr/>
          <p:nvPr/>
        </p:nvSpPr>
        <p:spPr>
          <a:xfrm>
            <a:off x="7178040" y="4160520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6912" y="4279392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818120" y="3968496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Diagrams</a:t>
            </a:r>
            <a:endParaRPr lang="en-US" sz="1450" dirty="0"/>
          </a:p>
        </p:txBody>
      </p:sp>
      <p:sp>
        <p:nvSpPr>
          <p:cNvPr id="39" name="Shape 31"/>
          <p:cNvSpPr/>
          <p:nvPr/>
        </p:nvSpPr>
        <p:spPr>
          <a:xfrm>
            <a:off x="640080" y="4992624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822960" y="499262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41" name="Shape 33"/>
          <p:cNvSpPr/>
          <p:nvPr/>
        </p:nvSpPr>
        <p:spPr>
          <a:xfrm>
            <a:off x="1600200" y="5184648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9072" y="5303520"/>
            <a:ext cx="219456" cy="21945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240280" y="4992624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Challenges</a:t>
            </a:r>
            <a:endParaRPr lang="en-US" sz="1450" dirty="0"/>
          </a:p>
        </p:txBody>
      </p:sp>
      <p:sp>
        <p:nvSpPr>
          <p:cNvPr id="44" name="Shape 35"/>
          <p:cNvSpPr/>
          <p:nvPr/>
        </p:nvSpPr>
        <p:spPr>
          <a:xfrm>
            <a:off x="6217920" y="4992624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6400800" y="499262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46" name="Shape 37"/>
          <p:cNvSpPr/>
          <p:nvPr/>
        </p:nvSpPr>
        <p:spPr>
          <a:xfrm>
            <a:off x="7178040" y="5184648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6912" y="5303520"/>
            <a:ext cx="219456" cy="21945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818120" y="4992624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AI-assisted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platform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 streamlines hiring end-to-end. Job seekers upload a CV that an AI service parses into structured data, then receive jobs ranked by a skill-match score with one-click applications. Companies review applicants auto-ranked in a Smart ATS, and an admin oversees the whole platform.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9684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3840480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86200" y="39684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AR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86200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+ RTL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864608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9926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parsing &amp; matching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4864608"/>
            <a:ext cx="2743200" cy="841248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86200" y="49926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8620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with score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68312" y="1581912"/>
            <a:ext cx="4572000" cy="4023360"/>
          </a:xfrm>
          <a:prstGeom prst="roundRect">
            <a:avLst>
              <a:gd name="adj" fmla="val 1818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1417320"/>
            <a:ext cx="45720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03720" y="1417320"/>
            <a:ext cx="457200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68312" y="155448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69480" y="15544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70648" y="155448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18120" y="1508760"/>
            <a:ext cx="3383280" cy="201168"/>
          </a:xfrm>
          <a:prstGeom prst="roundRect">
            <a:avLst>
              <a:gd name="adj" fmla="val 27273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955280" y="1508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smart-job-portal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58584" y="1837944"/>
            <a:ext cx="4462272" cy="354787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118104"/>
            <a:ext cx="548640" cy="5486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903720" y="3712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903720" y="3986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a screenshot of your site</a:t>
            </a:r>
            <a:endParaRPr lang="en-US" sz="9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A884052-3124-5243-AC59-B47B8A3B3B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33" r="6881"/>
          <a:stretch>
            <a:fillRect/>
          </a:stretch>
        </p:blipFill>
        <p:spPr>
          <a:xfrm>
            <a:off x="6903720" y="1801368"/>
            <a:ext cx="4572001" cy="25817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is slow, manual, and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low-signal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6112" y="2084832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2227478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27249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resume entry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96112" y="298094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Seekers re-type CV data into every application form.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398264" y="1828800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54296" y="2084832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942" y="2227478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54296" y="27249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Low-relevance search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654296" y="298094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ignores a candidate's real skills.</a:t>
            </a:r>
            <a:endParaRPr lang="en-US" sz="1030" dirty="0"/>
          </a:p>
        </p:txBody>
      </p:sp>
      <p:sp>
        <p:nvSpPr>
          <p:cNvPr id="19" name="Shape 15"/>
          <p:cNvSpPr/>
          <p:nvPr/>
        </p:nvSpPr>
        <p:spPr>
          <a:xfrm>
            <a:off x="8156448" y="1828800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412480" y="2084832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126" y="2227478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7249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rejections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412480" y="298094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get no actionable reason to improve.</a:t>
            </a:r>
            <a:endParaRPr lang="en-US" sz="1030" dirty="0"/>
          </a:p>
        </p:txBody>
      </p:sp>
      <p:sp>
        <p:nvSpPr>
          <p:cNvPr id="24" name="Shape 19"/>
          <p:cNvSpPr/>
          <p:nvPr/>
        </p:nvSpPr>
        <p:spPr>
          <a:xfrm>
            <a:off x="640080" y="3621024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96112" y="3877056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758" y="4019702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6112" y="45171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overload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896112" y="477316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drown in unranked, unqualified applicants.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4398264" y="3621024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54296" y="3877056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6942" y="4019702"/>
            <a:ext cx="263347" cy="26334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54296" y="45171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notifications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654296" y="477316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Notifying rejected candidates takes manual effort.</a:t>
            </a:r>
            <a:endParaRPr lang="en-US" sz="1030" dirty="0"/>
          </a:p>
        </p:txBody>
      </p:sp>
      <p:sp>
        <p:nvSpPr>
          <p:cNvPr id="34" name="Shape 27"/>
          <p:cNvSpPr/>
          <p:nvPr/>
        </p:nvSpPr>
        <p:spPr>
          <a:xfrm>
            <a:off x="8156448" y="3621024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412480" y="3877056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5126" y="4019702"/>
            <a:ext cx="263347" cy="26334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412480" y="451713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oversight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8412480" y="477316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lack tools to moderate users and jobs.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sets out to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FF4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3312" y="187452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CV ingestion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53312" y="220370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structured data and skills from resumes.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40080" y="279806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F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53312" y="275234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recommendations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53312" y="308152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jobs by a transparent matching score.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40080" y="367588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FF4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3312" y="363016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applications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53312" y="39593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instantly with an auto-computed score.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40080" y="455371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F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53312" y="450799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ATS for recruiters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53312" y="4837176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Auto-rank applicants; search, filter, sort.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172200" y="19202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FF4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85432" y="187452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feedback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85432" y="220370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Gap-analysis emails list missing skills.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172200" y="279806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CF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85432" y="275234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&amp; analytics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85432" y="308152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users and jobs with platform stats.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6172200" y="367588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FF4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72200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85432" y="363016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access (EN / AR)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885432" y="39593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right-to-left support across the UI.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one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workflow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3511296" cy="96012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3511296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2258568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782" y="238695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54480" y="2011680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32688" y="3182112"/>
            <a:ext cx="29626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CV &amp; auto-fill profile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recommendations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apply &amp; track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rejection gap analysis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4398264" y="201168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98264" y="2011680"/>
            <a:ext cx="3511296" cy="96012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98264" y="2468880"/>
            <a:ext cx="3511296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72584" y="2258568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966" y="2386950"/>
            <a:ext cx="218724" cy="2187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12664" y="2011680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Recruiter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690872" y="3182112"/>
            <a:ext cx="29626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jobs with skills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ATS auto-ranks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status &amp; message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insights</a:t>
            </a:r>
            <a:endParaRPr lang="en-US" sz="1130" dirty="0"/>
          </a:p>
        </p:txBody>
      </p:sp>
      <p:sp>
        <p:nvSpPr>
          <p:cNvPr id="23" name="Shape 19"/>
          <p:cNvSpPr/>
          <p:nvPr/>
        </p:nvSpPr>
        <p:spPr>
          <a:xfrm>
            <a:off x="8156448" y="201168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56448" y="2011680"/>
            <a:ext cx="3511296" cy="960120"/>
          </a:xfrm>
          <a:prstGeom prst="roundRect">
            <a:avLst>
              <a:gd name="adj" fmla="val 8571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156448" y="2468880"/>
            <a:ext cx="3511296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430768" y="2258568"/>
            <a:ext cx="475488" cy="47548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150" y="2386950"/>
            <a:ext cx="218724" cy="21872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070848" y="2011680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8449056" y="3182112"/>
            <a:ext cx="29626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statistics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&amp; moderate users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/ ban accounts</a:t>
            </a:r>
            <a:endParaRPr lang="en-US" sz="113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and remove jobs</a:t>
            </a:r>
            <a:endParaRPr lang="en-US" sz="1130" dirty="0"/>
          </a:p>
        </p:txBody>
      </p:sp>
      <p:sp>
        <p:nvSpPr>
          <p:cNvPr id="30" name="Text 25"/>
          <p:cNvSpPr/>
          <p:nvPr/>
        </p:nvSpPr>
        <p:spPr>
          <a:xfrm>
            <a:off x="640080" y="5532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actors:  </a:t>
            </a: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  -  Email Service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914400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25328" y="914400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50424" y="1289304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00232" y="1289304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1664208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25328" y="1664208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" y="5120640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5449824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448" y="5449824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&amp; </a:t>
            </a:r>
            <a:r>
              <a:rPr lang="en-US" sz="4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capabilities, system modules, architecture, and technology stack.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capabilities that make it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585216" cy="585216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556" y="2255276"/>
            <a:ext cx="280904" cy="280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77977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CV Parsing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4400" y="3072384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skills, education &amp; experience from PDF/DOCX.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398264" y="1828800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72584" y="2103120"/>
            <a:ext cx="585216" cy="585216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740" y="2255276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72584" y="277977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Matching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672584" y="3072384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jobs vs. skills with a weighted 70/30 model.</a:t>
            </a:r>
            <a:endParaRPr lang="en-US" sz="1030" dirty="0"/>
          </a:p>
        </p:txBody>
      </p:sp>
      <p:sp>
        <p:nvSpPr>
          <p:cNvPr id="19" name="Shape 15"/>
          <p:cNvSpPr/>
          <p:nvPr/>
        </p:nvSpPr>
        <p:spPr>
          <a:xfrm>
            <a:off x="8156448" y="1828800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430768" y="2103120"/>
            <a:ext cx="585216" cy="585216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924" y="225527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30768" y="277977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Apply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430768" y="3072384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score &amp; missing skills computed on submit.</a:t>
            </a:r>
            <a:endParaRPr lang="en-US" sz="1030" dirty="0"/>
          </a:p>
        </p:txBody>
      </p:sp>
      <p:sp>
        <p:nvSpPr>
          <p:cNvPr id="24" name="Shape 19"/>
          <p:cNvSpPr/>
          <p:nvPr/>
        </p:nvSpPr>
        <p:spPr>
          <a:xfrm>
            <a:off x="640080" y="3785616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14400" y="4059936"/>
            <a:ext cx="585216" cy="585216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556" y="4212092"/>
            <a:ext cx="280904" cy="280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4736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ATS Ranking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14400" y="50292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auto-ranked with search, filter &amp; sort.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4398264" y="3785616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72584" y="4059936"/>
            <a:ext cx="585216" cy="585216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4740" y="4212092"/>
            <a:ext cx="280904" cy="2809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72584" y="4736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Gap-Analysis Feedback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672584" y="50292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rejection emails list missing skills.</a:t>
            </a:r>
            <a:endParaRPr lang="en-US" sz="1030" dirty="0"/>
          </a:p>
        </p:txBody>
      </p:sp>
      <p:sp>
        <p:nvSpPr>
          <p:cNvPr id="34" name="Shape 27"/>
          <p:cNvSpPr/>
          <p:nvPr/>
        </p:nvSpPr>
        <p:spPr>
          <a:xfrm>
            <a:off x="8156448" y="3785616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430768" y="4059936"/>
            <a:ext cx="585216" cy="585216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2924" y="4212092"/>
            <a:ext cx="280904" cy="28090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430768" y="4736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&amp; Alerts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8430768" y="50292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messaging, notifications and saved jobs.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MODULES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screens across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module groups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2651760" cy="31546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7824" y="2221992"/>
            <a:ext cx="530352" cy="53035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16" y="2359884"/>
            <a:ext cx="254569" cy="25456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17904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517904" y="2514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pages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7824" y="2971800"/>
            <a:ext cx="21762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" y="3118104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About, Contact, FAQ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&amp; job details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&amp; profiles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Salaries, Privacy, Terms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3474720" y="1965960"/>
            <a:ext cx="2651760" cy="31546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712464" y="2221992"/>
            <a:ext cx="530352" cy="530352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0356" y="2359884"/>
            <a:ext cx="254569" cy="25456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52544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352544" y="2514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pages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712464" y="2971800"/>
            <a:ext cx="21762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730752" y="3118104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CV review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recommendations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&amp; feedback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messages, settings</a:t>
            </a:r>
            <a:endParaRPr lang="en-US" sz="1030" dirty="0"/>
          </a:p>
        </p:txBody>
      </p:sp>
      <p:sp>
        <p:nvSpPr>
          <p:cNvPr id="23" name="Shape 19"/>
          <p:cNvSpPr/>
          <p:nvPr/>
        </p:nvSpPr>
        <p:spPr>
          <a:xfrm>
            <a:off x="6309360" y="1965960"/>
            <a:ext cx="2651760" cy="31546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547104" y="2221992"/>
            <a:ext cx="530352" cy="530352"/>
          </a:xfrm>
          <a:prstGeom prst="ellipse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996" y="2359884"/>
            <a:ext cx="254569" cy="25456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87184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7187184" y="2514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pages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547104" y="2971800"/>
            <a:ext cx="21762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565392" y="3118104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profile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manage jobs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ATS &amp; applicants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&amp; notifications</a:t>
            </a:r>
            <a:endParaRPr lang="en-US" sz="1030" dirty="0"/>
          </a:p>
        </p:txBody>
      </p:sp>
      <p:sp>
        <p:nvSpPr>
          <p:cNvPr id="30" name="Shape 25"/>
          <p:cNvSpPr/>
          <p:nvPr/>
        </p:nvSpPr>
        <p:spPr>
          <a:xfrm>
            <a:off x="9144000" y="1965960"/>
            <a:ext cx="2651760" cy="31546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9381744" y="2221992"/>
            <a:ext cx="530352" cy="530352"/>
          </a:xfrm>
          <a:prstGeom prst="ellipse">
            <a:avLst/>
          </a:prstGeom>
          <a:solidFill>
            <a:srgbClr val="1D4ED8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9636" y="2359884"/>
            <a:ext cx="254569" cy="25456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021824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10021824" y="2514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pages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9381744" y="2971800"/>
            <a:ext cx="21762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9400032" y="3118104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statistics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moderation</a:t>
            </a:r>
            <a:endParaRPr lang="en-US" sz="103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log &amp; settings</a:t>
            </a:r>
            <a:endParaRPr lang="en-US" sz="1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</a:t>
            </a: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 architecture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88820" y="2542032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015" y="2732227"/>
            <a:ext cx="351130" cy="3511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33649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6027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SPA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3931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- Tailwind - Router - i18n (EN/AR) - Framer Motion</a:t>
            </a:r>
            <a:endParaRPr lang="en-US" sz="98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812" y="3273552"/>
            <a:ext cx="310896" cy="31089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54880" y="228600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12180" y="2542032"/>
            <a:ext cx="731520" cy="731520"/>
          </a:xfrm>
          <a:prstGeom prst="ellipse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375" y="2732227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33649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754880" y="36027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 REST API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983480" y="3931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- Services - Sanctum auth - Queue worker - MySQL</a:t>
            </a:r>
            <a:endParaRPr lang="en-US" sz="98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172" y="3273552"/>
            <a:ext cx="310896" cy="3108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778240" y="228600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035540" y="2542032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5735" y="2732227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778240" y="33649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8778240" y="36027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Microservice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006840" y="3931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parsing - skill matching - gap analysis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3977640" y="36484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REST  (cookies + CSRF)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001000" y="36484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+ X-API-Key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640080" y="49834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914400" y="49834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Service 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(verification, approval &amp; gap-analysis emails)   -   </a:t>
            </a: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worker 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(async CV parsing, score refinement, mail)   -   </a:t>
            </a: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(Eloquent migrations).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stack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55064" y="2258568"/>
            <a:ext cx="621792" cy="62179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730" y="2420234"/>
            <a:ext cx="298460" cy="298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4672" y="3337560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 8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RTL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7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i18next - Framer Motion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474720" y="196596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89704" y="2258568"/>
            <a:ext cx="621792" cy="621792"/>
          </a:xfrm>
          <a:prstGeom prst="ellipse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370" y="2420234"/>
            <a:ext cx="298460" cy="298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639312" y="3337560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8.2 - Laravel 12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 (SPA auth)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 &amp; events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PHPUnit + GitHub CI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6309360" y="196596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324344" y="2258568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010" y="2420234"/>
            <a:ext cx="298460" cy="298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73952" y="3337560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 FastAPI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NER parsing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matching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PyPDF2 - python-docx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9144000" y="1965960"/>
            <a:ext cx="2651760" cy="3017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0158984" y="2258568"/>
            <a:ext cx="621792" cy="621792"/>
          </a:xfrm>
          <a:prstGeom prst="ellipse">
            <a:avLst/>
          </a:prstGeom>
          <a:solidFill>
            <a:srgbClr val="1D4ED8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650" y="2420234"/>
            <a:ext cx="298460" cy="298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Auth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308592" y="3337560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Eloquent migrations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080" dirty="0"/>
          </a:p>
          <a:p>
            <a:pPr marL="0" indent="0" algn="ctr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- CSRF - throttling</a:t>
            </a:r>
            <a:endParaRPr lang="en-US" sz="1080" dirty="0"/>
          </a:p>
        </p:txBody>
      </p:sp>
      <p:sp>
        <p:nvSpPr>
          <p:cNvPr id="29" name="Text 23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 -  Git &amp; GitHub  -  Composer / npm  -  Postman  -  XAMPP / MySQL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914400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25328" y="914400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50424" y="1289304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00232" y="1289304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1664208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25328" y="1664208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" y="5120640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5449824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448" y="5449824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</a:t>
            </a:r>
            <a:r>
              <a:rPr lang="en-US" sz="4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single-page app, the user interface, and the design system.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REACT SPA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fast, modular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 app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585216" cy="585216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556" y="2255276"/>
            <a:ext cx="280904" cy="280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77977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architecture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307238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 split by role: admin, company, jobSeeker &amp; shared UI.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4398264" y="1828800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72584" y="2103120"/>
            <a:ext cx="585216" cy="585216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740" y="2255276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72584" y="277977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guards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72584" y="307238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7 with ProtectedRoute &amp; RoleRoute gating pages by role.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8156448" y="1828800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430768" y="2103120"/>
            <a:ext cx="585216" cy="585216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924" y="225527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30768" y="277977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data layer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430768" y="307238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for auth/theme; Axios client with CSRF &amp; 401 interceptors.</a:t>
            </a:r>
            <a:endParaRPr lang="en-US" sz="1020" dirty="0"/>
          </a:p>
        </p:txBody>
      </p:sp>
      <p:sp>
        <p:nvSpPr>
          <p:cNvPr id="24" name="Shape 19"/>
          <p:cNvSpPr/>
          <p:nvPr/>
        </p:nvSpPr>
        <p:spPr>
          <a:xfrm>
            <a:off x="640080" y="3785616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14400" y="4059936"/>
            <a:ext cx="585216" cy="585216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556" y="4212092"/>
            <a:ext cx="280904" cy="280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4736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+ RTL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14400" y="5029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i18next with full English / Arabic and right-to-left layout.</a:t>
            </a:r>
            <a:endParaRPr lang="en-US" sz="1020" dirty="0"/>
          </a:p>
        </p:txBody>
      </p:sp>
      <p:sp>
        <p:nvSpPr>
          <p:cNvPr id="29" name="Shape 23"/>
          <p:cNvSpPr/>
          <p:nvPr/>
        </p:nvSpPr>
        <p:spPr>
          <a:xfrm>
            <a:off x="4398264" y="3785616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72584" y="4059936"/>
            <a:ext cx="585216" cy="585216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4740" y="4212092"/>
            <a:ext cx="280904" cy="2809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72584" y="4736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&amp; feedback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672584" y="5029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transitions, skeleton loaders and toasts.</a:t>
            </a:r>
            <a:endParaRPr lang="en-US" sz="1020" dirty="0"/>
          </a:p>
        </p:txBody>
      </p:sp>
      <p:sp>
        <p:nvSpPr>
          <p:cNvPr id="34" name="Shape 27"/>
          <p:cNvSpPr/>
          <p:nvPr/>
        </p:nvSpPr>
        <p:spPr>
          <a:xfrm>
            <a:off x="8156448" y="3785616"/>
            <a:ext cx="351129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430768" y="4059936"/>
            <a:ext cx="585216" cy="585216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2924" y="4212092"/>
            <a:ext cx="280904" cy="28090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430768" y="4736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430768" y="5029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utility system - mobile, tablet and desktop layouts.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PAGES / UI SHOWCASE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clean, responsive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04672" y="1993392"/>
            <a:ext cx="6309360" cy="3968496"/>
          </a:xfrm>
          <a:prstGeom prst="roundRect">
            <a:avLst>
              <a:gd name="adj" fmla="val 1778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64922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649224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" y="19659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19659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07008" y="196596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54480" y="1920240"/>
            <a:ext cx="5303520" cy="201168"/>
          </a:xfrm>
          <a:prstGeom prst="roundRect">
            <a:avLst>
              <a:gd name="adj" fmla="val 27273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91640" y="19202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smart-job-portal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4944" y="2249424"/>
            <a:ext cx="6382512" cy="363931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575304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41696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Job Search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44439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a desktop screenshot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763256" y="1956816"/>
            <a:ext cx="1874520" cy="3931920"/>
          </a:xfrm>
          <a:prstGeom prst="roundRect">
            <a:avLst>
              <a:gd name="adj" fmla="val 10732"/>
            </a:avLst>
          </a:prstGeom>
          <a:solidFill>
            <a:srgbClr val="EC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635240" y="1828800"/>
            <a:ext cx="1874520" cy="3931920"/>
          </a:xfrm>
          <a:prstGeom prst="roundRect">
            <a:avLst>
              <a:gd name="adj" fmla="val 10732"/>
            </a:avLst>
          </a:prstGeom>
          <a:solidFill>
            <a:srgbClr val="0F172A"/>
          </a:solidFill>
          <a:ln/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726680" y="1993392"/>
            <a:ext cx="1691640" cy="3602736"/>
          </a:xfrm>
          <a:prstGeom prst="roundRect">
            <a:avLst>
              <a:gd name="adj" fmla="val 756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316468" y="189280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332" y="3337560"/>
            <a:ext cx="402336" cy="40233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26680" y="38313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view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screenshot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9784080" y="1828800"/>
            <a:ext cx="1783080" cy="3931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996696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9966960" y="2423160"/>
            <a:ext cx="1508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&amp; dark themes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EN / AR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support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Material-3 tokens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Mobile-friendly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FC6D9E7-035F-2620-A007-67085AE0B7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429"/>
          <a:stretch>
            <a:fillRect/>
          </a:stretch>
        </p:blipFill>
        <p:spPr>
          <a:xfrm>
            <a:off x="658368" y="2212848"/>
            <a:ext cx="6094207" cy="286751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A273CCE-A999-D235-7A74-43C1707550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500"/>
          <a:stretch>
            <a:fillRect/>
          </a:stretch>
        </p:blipFill>
        <p:spPr>
          <a:xfrm>
            <a:off x="7766895" y="2106666"/>
            <a:ext cx="1576613" cy="33980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IDENTITY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 - DESIGN SYSTEM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clean, professional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system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1024128" cy="841248"/>
          </a:xfrm>
          <a:prstGeom prst="roundRect">
            <a:avLst>
              <a:gd name="adj" fmla="val 760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07238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2735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#0F172A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83080" y="2194560"/>
            <a:ext cx="1024128" cy="841248"/>
          </a:xfrm>
          <a:prstGeom prst="roundRect">
            <a:avLst>
              <a:gd name="adj" fmla="val 7609"/>
            </a:avLst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37360" y="307238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Blue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32735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#2563EB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926080" y="2194560"/>
            <a:ext cx="1024128" cy="841248"/>
          </a:xfrm>
          <a:prstGeom prst="roundRect">
            <a:avLst>
              <a:gd name="adj" fmla="val 7609"/>
            </a:avLst>
          </a:prstGeom>
          <a:solidFill>
            <a:srgbClr val="14B8A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80360" y="307238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32735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#14B8A6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069080" y="2194560"/>
            <a:ext cx="1024128" cy="841248"/>
          </a:xfrm>
          <a:prstGeom prst="roundRect">
            <a:avLst>
              <a:gd name="adj" fmla="val 7609"/>
            </a:avLst>
          </a:prstGeom>
          <a:solidFill>
            <a:srgbClr val="47556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307238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32735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#475569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212080" y="2194560"/>
            <a:ext cx="102412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2735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#F8FAFC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5760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26110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14400" y="48097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Bb Cc 0123 - Display / Headings / Body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1389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sans-serif - weights 400-800 - Material Symbols icons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720840" y="182880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029968"/>
            <a:ext cx="960120" cy="9601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0467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8046720" y="257860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Briefcase + AI brain + checkmark - careers powered by intelligence.</a:t>
            </a:r>
            <a:endParaRPr lang="en-US" sz="1030" dirty="0"/>
          </a:p>
        </p:txBody>
      </p:sp>
      <p:sp>
        <p:nvSpPr>
          <p:cNvPr id="34" name="Shape 31"/>
          <p:cNvSpPr/>
          <p:nvPr/>
        </p:nvSpPr>
        <p:spPr>
          <a:xfrm>
            <a:off x="6720840" y="3383280"/>
            <a:ext cx="235000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922008" y="3584448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125" y="3698565"/>
            <a:ext cx="210678" cy="21067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903720" y="4078224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&amp; dark themes</a:t>
            </a:r>
            <a:endParaRPr lang="en-US" sz="1130" dirty="0"/>
          </a:p>
        </p:txBody>
      </p:sp>
      <p:sp>
        <p:nvSpPr>
          <p:cNvPr id="38" name="Shape 34"/>
          <p:cNvSpPr/>
          <p:nvPr/>
        </p:nvSpPr>
        <p:spPr>
          <a:xfrm>
            <a:off x="9217152" y="3383280"/>
            <a:ext cx="235000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9418320" y="3584448"/>
            <a:ext cx="438912" cy="438912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2437" y="3698565"/>
            <a:ext cx="210678" cy="21067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9400032" y="4078224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EN / AR + RTL</a:t>
            </a:r>
            <a:endParaRPr lang="en-US" sz="1130" dirty="0"/>
          </a:p>
        </p:txBody>
      </p:sp>
      <p:sp>
        <p:nvSpPr>
          <p:cNvPr id="42" name="Shape 37"/>
          <p:cNvSpPr/>
          <p:nvPr/>
        </p:nvSpPr>
        <p:spPr>
          <a:xfrm>
            <a:off x="6720840" y="4681728"/>
            <a:ext cx="235000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6922008" y="4882896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6125" y="4997013"/>
            <a:ext cx="210678" cy="21067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903720" y="5376672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Material-3 tokens</a:t>
            </a:r>
            <a:endParaRPr lang="en-US" sz="1130" dirty="0"/>
          </a:p>
        </p:txBody>
      </p:sp>
      <p:sp>
        <p:nvSpPr>
          <p:cNvPr id="46" name="Shape 40"/>
          <p:cNvSpPr/>
          <p:nvPr/>
        </p:nvSpPr>
        <p:spPr>
          <a:xfrm>
            <a:off x="9217152" y="4681728"/>
            <a:ext cx="235000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9418320" y="4882896"/>
            <a:ext cx="438912" cy="438912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2437" y="4997013"/>
            <a:ext cx="210678" cy="21067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9400032" y="5376672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cards, soft shadows</a:t>
            </a:r>
            <a:endParaRPr lang="en-US" sz="11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914400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25328" y="914400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50424" y="1289304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00232" y="1289304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1664208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25328" y="1664208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" y="5120640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5449824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448" y="5449824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</a:t>
            </a:r>
            <a:r>
              <a:rPr lang="en-US" sz="4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Laravel REST API, request lifecycle, the AI microservice, and testing.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LARAVEL API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layered, secure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94360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9536" y="2011680"/>
            <a:ext cx="512064" cy="512064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73" y="2144817"/>
            <a:ext cx="245791" cy="2457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1947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&amp; routing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554480" y="221284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routes, controllers and a consistent JSON envelope (ApiResponse trait).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798064"/>
            <a:ext cx="594360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59536" y="2980944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73" y="3114081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54480" y="2916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security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554480" y="318211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 SPA cookie auth, CSRF, role middleware, policies, ban &amp; verification checks.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3767328"/>
            <a:ext cx="594360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59536" y="3950208"/>
            <a:ext cx="512064" cy="512064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673" y="408334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886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554480" y="415137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(matching, gap analysis, CV parsing handoff) isolated in services.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0080" y="4736592"/>
            <a:ext cx="594360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59536" y="4919472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673" y="5052609"/>
            <a:ext cx="245791" cy="24579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4855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&amp; events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554480" y="51206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jobs for CV parsing, score refinement and emails; events &amp; listeners.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986016" y="1911096"/>
            <a:ext cx="4709160" cy="4069080"/>
          </a:xfrm>
          <a:prstGeom prst="roundRect">
            <a:avLst>
              <a:gd name="adj" fmla="val 1348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858000" y="1783080"/>
            <a:ext cx="4709160" cy="406908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dia/08_cla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4627" y="2020824"/>
            <a:ext cx="3135906" cy="359359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58000" y="58704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/ data-model diagram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REQUEST LIFECYCLE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4846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REQUEST FLOW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4124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Request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2600" dirty="0"/>
          </a:p>
        </p:txBody>
      </p:sp>
      <p:pic>
        <p:nvPicPr>
          <p:cNvPr id="9" name="Image 0" descr="assets/api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848" y="1481328"/>
            <a:ext cx="8128000" cy="4572000"/>
          </a:xfrm>
          <a:prstGeom prst="rect">
            <a:avLst/>
          </a:prstGeom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CV upload to </a:t>
            </a:r>
            <a:r>
              <a:rPr lang="en-US" sz="2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decision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 JOURNEY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875069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03294" y="2441448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941" y="2584094"/>
            <a:ext cx="263347" cy="2633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06324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589" y="2802636"/>
            <a:ext cx="201168" cy="2011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899197" y="2240280"/>
            <a:ext cx="1875069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562411" y="2441448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057" y="258409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99197" y="306324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CV</a:t>
            </a:r>
            <a:endParaRPr lang="en-US" sz="11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705" y="2802636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158313" y="2240280"/>
            <a:ext cx="1875069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821528" y="2441448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4174" y="2584094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58313" y="306324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Parses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822" y="2802636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417430" y="2240280"/>
            <a:ext cx="1875069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8080644" y="2441448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3291" y="2584094"/>
            <a:ext cx="263347" cy="26334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17430" y="306324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1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3939" y="2802636"/>
            <a:ext cx="201168" cy="20116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676547" y="2240280"/>
            <a:ext cx="1875069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1"/>
          <p:cNvSpPr/>
          <p:nvPr/>
        </p:nvSpPr>
        <p:spPr>
          <a:xfrm>
            <a:off x="10339761" y="2441448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2407" y="2584094"/>
            <a:ext cx="263347" cy="263347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76547" y="306324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Apply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JOURNEY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640080" y="4343400"/>
            <a:ext cx="2439848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5"/>
          <p:cNvSpPr/>
          <p:nvPr/>
        </p:nvSpPr>
        <p:spPr>
          <a:xfrm>
            <a:off x="1585684" y="4544568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8330" y="4687214"/>
            <a:ext cx="263347" cy="263347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40080" y="5166360"/>
            <a:ext cx="24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Job + Skills</a:t>
            </a:r>
            <a:endParaRPr lang="en-US" sz="115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1368" y="4905756"/>
            <a:ext cx="201168" cy="201168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3463976" y="4343400"/>
            <a:ext cx="2439848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28"/>
          <p:cNvSpPr/>
          <p:nvPr/>
        </p:nvSpPr>
        <p:spPr>
          <a:xfrm>
            <a:off x="4409580" y="4544568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2226" y="4687214"/>
            <a:ext cx="263347" cy="263347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3463976" y="5166360"/>
            <a:ext cx="24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Auto-Ranks</a:t>
            </a:r>
            <a:endParaRPr lang="en-US" sz="115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264" y="4905756"/>
            <a:ext cx="201168" cy="201168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6287872" y="4343400"/>
            <a:ext cx="2439848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1"/>
          <p:cNvSpPr/>
          <p:nvPr/>
        </p:nvSpPr>
        <p:spPr>
          <a:xfrm>
            <a:off x="7233476" y="4544568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6122" y="4687214"/>
            <a:ext cx="263347" cy="263347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287872" y="5166360"/>
            <a:ext cx="24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Status</a:t>
            </a:r>
            <a:endParaRPr lang="en-US" sz="115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9159" y="4905756"/>
            <a:ext cx="201168" cy="201168"/>
          </a:xfrm>
          <a:prstGeom prst="rect">
            <a:avLst/>
          </a:prstGeom>
        </p:spPr>
      </p:pic>
      <p:sp>
        <p:nvSpPr>
          <p:cNvPr id="50" name="Shape 33"/>
          <p:cNvSpPr/>
          <p:nvPr/>
        </p:nvSpPr>
        <p:spPr>
          <a:xfrm>
            <a:off x="9111767" y="4343400"/>
            <a:ext cx="2439848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34"/>
          <p:cNvSpPr/>
          <p:nvPr/>
        </p:nvSpPr>
        <p:spPr>
          <a:xfrm>
            <a:off x="10057371" y="4544568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00018" y="4687214"/>
            <a:ext cx="263347" cy="263347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9111767" y="5166360"/>
            <a:ext cx="24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Gap-Analysis Email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THE CORE ENGINE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platform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FastAPI microservice powers the intelligence behind Smart Job Portal. It turns raw CVs into structured data and scores candidates against jobs, so matching is based on real skills - not keywords.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112" y="3063240"/>
            <a:ext cx="566928" cy="566928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13" y="3210641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6112" y="3749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Parsing (NLP)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" y="4206240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NER + regex extract name, contact, skills, education &amp; experience from PDF / DOCX.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3429000" y="278892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85032" y="306324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2433" y="3210641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85032" y="3749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Matching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85032" y="4206240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vs. candidate skills scored with a weighted 70/30 model; cosine similarity ready.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6217920" y="278892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473952" y="3063240"/>
            <a:ext cx="566928" cy="566928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353" y="3210641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73952" y="3749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73952" y="4206240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rejection, computes the exact missing skills returned to the candidate by email.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9006840" y="278892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262872" y="306324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0273" y="3210641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62872" y="3749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Pipeline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262872" y="4206240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queue jobs, 30s timeout, and a local fallback scorer keep the product working offline.</a:t>
            </a:r>
            <a:endParaRPr lang="en-US" sz="1030" dirty="0"/>
          </a:p>
        </p:txBody>
      </p:sp>
      <p:sp>
        <p:nvSpPr>
          <p:cNvPr id="30" name="Text 24"/>
          <p:cNvSpPr/>
          <p:nvPr/>
        </p:nvSpPr>
        <p:spPr>
          <a:xfrm>
            <a:off x="640080" y="55961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 </a:t>
            </a: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 FastAPI - spaCy (en_core_web_sm) - scikit-learn - PyPDF2 - python-docx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DATA FLOW (DFD LEVEL 1)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moves through the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68096" y="1911096"/>
            <a:ext cx="7315200" cy="4160520"/>
          </a:xfrm>
          <a:prstGeom prst="roundRect">
            <a:avLst>
              <a:gd name="adj" fmla="val 1319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731520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101584" y="1888236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01584" y="18882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30444" y="18379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uploaded &amp; stored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22391" y="2665476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122391" y="26654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30444" y="264924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parses -&gt; structured JSON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83296" y="3438144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083296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30444" y="3447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saved to profile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01584" y="4215384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101584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30444" y="4178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vs. job requirements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108489" y="5029387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108489" y="502938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630444" y="5001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Score, recommend &amp; rank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0FC9055-97C7-9051-D4C1-4718EC2A4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49" y="1815670"/>
            <a:ext cx="7264347" cy="40861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and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integrated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511296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6112" y="2176272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2318918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36192" y="219456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tests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96112" y="2880360"/>
            <a:ext cx="29992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3017520"/>
            <a:ext cx="30083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register &amp; verify gating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upload &amp; parse status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posting (company)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&amp; company rejection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ATS ranking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398264" y="1920240"/>
            <a:ext cx="3511296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54296" y="2176272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942" y="2318918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94376" y="219456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54296" y="2880360"/>
            <a:ext cx="29992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672584" y="3017520"/>
            <a:ext cx="30083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MatchingService scoring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/ partial / zero match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 (70 / 30) logic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Empty-requirements case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8156448" y="1920240"/>
            <a:ext cx="3511296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412480" y="2176272"/>
            <a:ext cx="548640" cy="548640"/>
          </a:xfrm>
          <a:prstGeom prst="ellipse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126" y="2318918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52560" y="219456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/ tooling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412480" y="2880360"/>
            <a:ext cx="299923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430768" y="3017520"/>
            <a:ext cx="30083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pipeline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service + migrate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PHPUnit suite on push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on the frontend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914400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25328" y="914400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50424" y="1289304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00232" y="1289304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75520" y="1664208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25328" y="1664208"/>
            <a:ext cx="256032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" y="5120640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5449824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448" y="5449824"/>
            <a:ext cx="219456" cy="219456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</a:t>
            </a:r>
            <a:r>
              <a:rPr lang="en-US" sz="4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cases, the data model, class &amp; sequence diagrams, and user workflows.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USE CASES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do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use-case diagram maps every actor to the actions the system supports - across public visitors, job seekers, companies, and the administrator, with the AI engine and email service as supporting actors.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58184"/>
            <a:ext cx="146304" cy="1463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36667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215384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41239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/ Recruiter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672584"/>
            <a:ext cx="146304" cy="14630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6112" y="45811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29784"/>
            <a:ext cx="146304" cy="14630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50383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 &amp; Email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45736" y="1499616"/>
            <a:ext cx="6949440" cy="4617720"/>
          </a:xfrm>
          <a:prstGeom prst="roundRect">
            <a:avLst>
              <a:gd name="adj" fmla="val 1188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1371600"/>
            <a:ext cx="694944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B3E95F2-6857-CD83-23A3-976BEB1E1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747" y="1418065"/>
            <a:ext cx="6802576" cy="453505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/ ERD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DATA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relational schema models users and role profiles, job posts and required skills, applications with status history, plus messaging, notifications, saved jobs and parsed CV data - all in MySQL via Eloquent migrations.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profiles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job_posts &amp; skills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&amp; history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cv_parsed_data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&amp; notifications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45736" y="1591056"/>
            <a:ext cx="6949440" cy="4480560"/>
          </a:xfrm>
          <a:prstGeom prst="roundRect">
            <a:avLst>
              <a:gd name="adj" fmla="val 1224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46304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D9D597-DF81-0D62-2795-E09A4880B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052" y="1569339"/>
            <a:ext cx="5812536" cy="435940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CLASS DIAGRAM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Eloquent models and their relationships: User with role-specific profiles, JobPost with required skills, Application with status history, and supporting models for messages, notifications and parsed CV data.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Profiles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JobPost / Skill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/ History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/ Notification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CvParsedData / SiteSetting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45736" y="1545336"/>
            <a:ext cx="6949440" cy="4526280"/>
          </a:xfrm>
          <a:prstGeom prst="roundRect">
            <a:avLst>
              <a:gd name="adj" fmla="val 1212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694944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dia/08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002" y="1655064"/>
            <a:ext cx="3662546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SEQUENCE DIAGRAMS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flows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Verification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" y="2295144"/>
            <a:ext cx="3511296" cy="1536192"/>
          </a:xfrm>
          <a:prstGeom prst="roundRect">
            <a:avLst>
              <a:gd name="adj" fmla="val 3571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167128"/>
            <a:ext cx="3511296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dia/02_seq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487" y="2404872"/>
            <a:ext cx="2440482" cy="10607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98264" y="187452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Upload &amp; AI Parsing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26280" y="2295144"/>
            <a:ext cx="3511296" cy="1536192"/>
          </a:xfrm>
          <a:prstGeom prst="roundRect">
            <a:avLst>
              <a:gd name="adj" fmla="val 3571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98264" y="2167128"/>
            <a:ext cx="3511296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dia/03_seq_cv_par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680" y="2404872"/>
            <a:ext cx="2736464" cy="10607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56448" y="187452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Recommendation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84464" y="2295144"/>
            <a:ext cx="3511296" cy="1536192"/>
          </a:xfrm>
          <a:prstGeom prst="roundRect">
            <a:avLst>
              <a:gd name="adj" fmla="val 3571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156448" y="2167128"/>
            <a:ext cx="3511296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dia/04_seq_recommend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630" y="2404872"/>
            <a:ext cx="2390931" cy="10607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" y="3886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Apply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68096" y="4306824"/>
            <a:ext cx="3511296" cy="1536192"/>
          </a:xfrm>
          <a:prstGeom prst="roundRect">
            <a:avLst>
              <a:gd name="adj" fmla="val 3571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40080" y="4178808"/>
            <a:ext cx="3511296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dia/05_seq_appl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629" y="4416552"/>
            <a:ext cx="2066198" cy="10607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398264" y="3886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&amp; Gap Analysis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26280" y="4306824"/>
            <a:ext cx="3511296" cy="1536192"/>
          </a:xfrm>
          <a:prstGeom prst="roundRect">
            <a:avLst>
              <a:gd name="adj" fmla="val 3571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398264" y="4178808"/>
            <a:ext cx="3511296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dia/06_seq_reje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008" y="4451613"/>
            <a:ext cx="3035808" cy="99058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56448" y="3886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ATS Ranking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284464" y="4306824"/>
            <a:ext cx="3511296" cy="1536192"/>
          </a:xfrm>
          <a:prstGeom prst="roundRect">
            <a:avLst>
              <a:gd name="adj" fmla="val 3571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156448" y="4178808"/>
            <a:ext cx="3511296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dia/07_seq_a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0111" y="4416552"/>
            <a:ext cx="2423969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WORKFLOWS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WORKFLOWS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</a:t>
            </a: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293620" y="1783080"/>
            <a:ext cx="146304" cy="1463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38528"/>
            <a:ext cx="3453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" y="2459736"/>
            <a:ext cx="3453384" cy="3520440"/>
          </a:xfrm>
          <a:prstGeom prst="roundRect">
            <a:avLst>
              <a:gd name="adj" fmla="val 1589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3453384" cy="3520440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dia/13_flow_jobsee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653" y="2569464"/>
            <a:ext cx="1132238" cy="304495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21324" y="1783080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67784" y="1938528"/>
            <a:ext cx="3453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95800" y="2459736"/>
            <a:ext cx="3453384" cy="3520440"/>
          </a:xfrm>
          <a:prstGeom prst="roundRect">
            <a:avLst>
              <a:gd name="adj" fmla="val 1589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67784" y="2331720"/>
            <a:ext cx="3453384" cy="3520440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ia/14_flow_recrui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528" y="2596433"/>
            <a:ext cx="2977896" cy="299101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749028" y="1783080"/>
            <a:ext cx="146304" cy="14630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095488" y="1938528"/>
            <a:ext cx="3453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223504" y="2459736"/>
            <a:ext cx="3453384" cy="3520440"/>
          </a:xfrm>
          <a:prstGeom prst="roundRect">
            <a:avLst>
              <a:gd name="adj" fmla="val 1589"/>
            </a:avLst>
          </a:prstGeom>
          <a:solidFill>
            <a:srgbClr val="EFF4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095488" y="2331720"/>
            <a:ext cx="3453384" cy="3520440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03200" dist="762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dia/15_flow_adm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3232" y="2615762"/>
            <a:ext cx="2977896" cy="295235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trade-offs we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0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9536" y="1975104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089221"/>
            <a:ext cx="210678" cy="21067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26464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 could be slow or down</a:t>
            </a:r>
            <a:endParaRPr lang="en-US" sz="11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0848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1828800"/>
            <a:ext cx="6156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call has a timeout and falls back to a local weighted scorer, so the product stays usable offline.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40080" y="2679192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59536" y="2825496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939613"/>
            <a:ext cx="210678" cy="21067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26464" y="26791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Per-request latency on job lists</a:t>
            </a:r>
            <a:endParaRPr lang="en-US" sz="11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9352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2679192"/>
            <a:ext cx="6156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use a fast local scorer; the heavier AI score is refined asynchronously via a queue job.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640080" y="3529584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859536" y="3675888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3790005"/>
            <a:ext cx="210678" cy="21067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26464" y="352958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files are sensitive data</a:t>
            </a:r>
            <a:endParaRPr lang="en-US" sz="11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785616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57800" y="3529584"/>
            <a:ext cx="6156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on a private disk with UUID names; downloads restricted to the owning company; magic-byte checks.</a:t>
            </a:r>
            <a:endParaRPr lang="en-US" sz="1080" dirty="0"/>
          </a:p>
        </p:txBody>
      </p:sp>
      <p:sp>
        <p:nvSpPr>
          <p:cNvPr id="29" name="Shape 21"/>
          <p:cNvSpPr/>
          <p:nvPr/>
        </p:nvSpPr>
        <p:spPr>
          <a:xfrm>
            <a:off x="640080" y="4379976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859536" y="4526280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4640397"/>
            <a:ext cx="210678" cy="21067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26464" y="437997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applicant volume</a:t>
            </a:r>
            <a:endParaRPr lang="en-US" sz="11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636008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57800" y="4379976"/>
            <a:ext cx="6156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ATS auto-ranks every applicant by match score with search, filter and sort.</a:t>
            </a:r>
            <a:endParaRPr lang="en-US" sz="1080" dirty="0"/>
          </a:p>
        </p:txBody>
      </p:sp>
      <p:sp>
        <p:nvSpPr>
          <p:cNvPr id="35" name="Shape 25"/>
          <p:cNvSpPr/>
          <p:nvPr/>
        </p:nvSpPr>
        <p:spPr>
          <a:xfrm>
            <a:off x="640080" y="5230368"/>
            <a:ext cx="10911535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6"/>
          <p:cNvSpPr/>
          <p:nvPr/>
        </p:nvSpPr>
        <p:spPr>
          <a:xfrm>
            <a:off x="859536" y="537667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5490789"/>
            <a:ext cx="210678" cy="21067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426464" y="52303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Substring skill mismatches</a:t>
            </a:r>
            <a:endParaRPr lang="en-US" sz="11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5486400"/>
            <a:ext cx="219456" cy="219456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257800" y="5230368"/>
            <a:ext cx="6156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as a limitation; planned fix is a canonical skill taxonomy with synonyms.</a:t>
            </a:r>
            <a:endParaRPr lang="en-US" sz="10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19088"/>
            <a:ext cx="118872" cy="1188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" y="6364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79615" y="6364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2975" y="63642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end-to-end </a:t>
            </a: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hiring platform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 delivers a complete recruitment workflow across three roles - automated CV parsing, skill-based matching, a smart ATS, and transparent feedback - on a clean, bilingual, three-tier architecture.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017520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68680" y="38039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screens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0" y="3200400"/>
            <a:ext cx="3017520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6052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160520" y="38039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Cooperating services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407408"/>
            <a:ext cx="3017520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544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EN/AR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68680" y="5010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+ RTL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4407408"/>
            <a:ext cx="3017520" cy="1024128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60520" y="4544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4160520" y="5010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&amp; matching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03720" y="1828800"/>
            <a:ext cx="4663440" cy="3621024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96328" y="2423160"/>
            <a:ext cx="4114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semantic (embedding) matching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skill taxonomy &amp; synonyms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CV understanding + Arabic parsing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deploy + HTTPS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messaging &amp; notifications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AI automated tests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219456" cy="219456"/>
          </a:xfrm>
          <a:prstGeom prst="rect">
            <a:avLst/>
          </a:prstGeom>
          <a:solidFill>
            <a:srgbClr val="14B8A6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4984" y="1014984"/>
            <a:ext cx="219456" cy="219456"/>
          </a:xfrm>
          <a:prstGeom prst="rect">
            <a:avLst/>
          </a:prstGeom>
          <a:solidFill>
            <a:srgbClr val="14B8A6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7664" y="5394960"/>
            <a:ext cx="219456" cy="219456"/>
          </a:xfrm>
          <a:prstGeom prst="rect">
            <a:avLst/>
          </a:prstGeom>
          <a:solidFill>
            <a:srgbClr val="2563EB">
              <a:alpha val="7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0" y="5724144"/>
            <a:ext cx="219456" cy="219456"/>
          </a:xfrm>
          <a:prstGeom prst="rect">
            <a:avLst/>
          </a:prstGeom>
          <a:solidFill>
            <a:srgbClr val="2563EB">
              <a:alpha val="7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908" y="1325880"/>
            <a:ext cx="1325880" cy="1325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8346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r>
              <a:rPr lang="en-US" sz="5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09848" y="4709160"/>
            <a:ext cx="4572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Portal</a:t>
            </a: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  AI-Powered Recruitment Platform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52578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2104</Words>
  <Application>Microsoft Office PowerPoint</Application>
  <PresentationFormat>Widescreen</PresentationFormat>
  <Paragraphs>480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Job Portal - Project Presentation</dc:title>
  <dc:subject>PptxGenJS Presentation</dc:subject>
  <dc:creator>Smart Job Portal Team</dc:creator>
  <cp:lastModifiedBy>Mohamed Naser Ahmed Sanad</cp:lastModifiedBy>
  <cp:revision>2</cp:revision>
  <dcterms:created xsi:type="dcterms:W3CDTF">2026-06-23T03:37:23Z</dcterms:created>
  <dcterms:modified xsi:type="dcterms:W3CDTF">2026-06-23T04:25:59Z</dcterms:modified>
</cp:coreProperties>
</file>